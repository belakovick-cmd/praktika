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73" r:id="rId3"/>
    <p:sldId id="258" r:id="rId4"/>
    <p:sldId id="272" r:id="rId5"/>
    <p:sldId id="260" r:id="rId6"/>
    <p:sldId id="274" r:id="rId7"/>
    <p:sldId id="264" r:id="rId8"/>
    <p:sldId id="26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6EC1025-57FB-4606-25E9-49C331E5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8D1516-0CB7-04FD-9146-316EBCF31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0457"/>
            <a:ext cx="5629154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6FB1E6B-906C-C186-B7C4-2CAC07E09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90132"/>
            <a:ext cx="5629154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BE21BDF-F351-5C25-458A-DD09528F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0DBA14B-A180-7623-7B23-017812A5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95BA1F-8A38-FD83-8BD3-62E27338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852335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9D390E-081E-46E7-6337-8397A5B8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7D7F6EB-11F1-496F-AEA3-639D38A83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50B0BA-0191-F04B-9305-55C485F6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FAAFBF3-5936-7AF0-32F3-FC5B3712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C3EC20-2D65-7B82-03B5-F2095B1A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81753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2A1DF3-3236-0ACE-004C-2B97F68C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46807D3-1EC6-F940-9A72-99EFCCE48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B5DF2D-554A-8DA3-BEAF-1BFFFB9B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E685C0E-C760-06F2-4A14-DC23DC5B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E3408F-803A-15BD-9C4B-FAA2E82C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571543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919EE3-31A2-2063-64CD-90706554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DA619C-75ED-85E4-619D-743A00DBC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CE3A2E8-C2E2-49F3-9EBB-4B9C951E2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75B4C47-F0EB-B33D-EF9B-8E3309E4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0A00103-75F9-A3B6-C881-8478A742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4B253CD-441A-BA64-C311-307DE340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847875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EA75F5-C0E3-CF3D-9DFB-8E256B29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5EC893F-E23E-A459-309B-A2425EFE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069F9E4-DA2F-0239-E59E-15511B51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469E670-BA61-E180-6C0C-394899684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B33DAB6-7034-C0EC-8297-6769E6532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47CED6E-C3FE-16C7-3E40-F89722FD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D7A4039-8404-838F-81B1-7A8AD40B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AEB0D3-880A-BE47-8A9B-01597FA0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467402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07EFB8-7F26-551A-319C-96D7D4C4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76826E0-92F3-112F-37E0-518115F4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A6EA5FA-D038-DC81-D196-06534113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9223108-439A-6276-69F5-1B270DCA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904399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0287D07-63AB-5218-F628-D692E9C9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7022044-F84D-C359-356B-D36A9E2F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2B507A0-72FF-D513-DAC8-ACA598AD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3526092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18F09B-B520-0350-8554-C4D610FA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5ED197-1033-0E1C-3EFF-48EDBD0E7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793CAD3-B3C6-DC97-6F87-9F8CCF941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824AC7D-8030-7C0C-1C4E-A6913753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674CC7E-208F-C810-E8BF-90CBDDEF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C4A8FF2-ED28-438F-3B2C-1A011FE7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371418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65D115-63CE-2FE3-8E82-6C7EC46F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F0A5218-4425-41E1-B8A9-1EA45CC5D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DE51F7D-19DD-FC32-11FF-F98D66C00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B401595-2F8B-DF91-9822-BFFDCFD8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CA1C812-778E-6F2F-B8B6-D7AC30D8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73F3A0F-5989-C278-1306-60DAE0A8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688580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C9100A-AFD1-BB95-4DED-9096B9CC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5B0AB79-011C-342C-E9A3-F1CC700C8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4985868-984D-CE75-C4D0-A97CA8969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C3A7623-6393-6155-2F1D-86EDEE9C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200EF54-70C2-EF2A-863E-78C5E1F9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474140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1F0F094-E495-A82D-9527-2952872E4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7A48802-AB35-54B6-3312-4608025B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A4B555-5BB5-F510-634E-48ECDE44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365E9B-2E5A-4A22-4D8C-28DD188E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50B1C3D-1D31-18CE-2015-00844DDE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089920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8A7DAF2-D90C-67A3-081F-FE6879CA11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36E749C-450B-2792-9025-4ADBA9D8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500" y="365126"/>
            <a:ext cx="9571299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DA98CF-4130-189F-09B0-1252C9AA1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68D36A-CD09-3B17-B944-5BE179E20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44ED4-FADC-094C-BD49-90B25C042044}" type="datetimeFigureOut">
              <a:rPr lang="uk-UA" smtClean="0"/>
              <a:t>22.10.2026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C91D71-9728-5503-3292-9A0896CCF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24E7A49-184D-D14E-F514-ED5BB78AE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178E6-460F-504B-A0F7-582AA6FB42B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881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330234"/>
            <a:ext cx="5878286" cy="250921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Курсовой проект </a:t>
            </a:r>
            <a:r>
              <a:rPr lang="ru-RU" dirty="0" smtClean="0">
                <a:latin typeface="Bahnschrift SemiBold Condensed" panose="020B0502040204020203" pitchFamily="34" charset="0"/>
              </a:rPr>
              <a:t/>
            </a:r>
            <a:br>
              <a:rPr lang="ru-RU" dirty="0" smtClean="0">
                <a:latin typeface="Bahnschrift SemiBold Condensed" panose="020B0502040204020203" pitchFamily="34" charset="0"/>
              </a:rPr>
            </a:br>
            <a:r>
              <a:rPr lang="ru-RU" dirty="0" smtClean="0">
                <a:latin typeface="Bahnschrift SemiBold Condensed" panose="020B0502040204020203" pitchFamily="34" charset="0"/>
              </a:rPr>
              <a:t/>
            </a:r>
            <a:br>
              <a:rPr lang="ru-RU" dirty="0" smtClean="0">
                <a:latin typeface="Bahnschrift SemiBold Condensed" panose="020B0502040204020203" pitchFamily="34" charset="0"/>
              </a:rPr>
            </a:br>
            <a:r>
              <a:rPr lang="ru-RU" sz="4000" dirty="0" smtClean="0">
                <a:latin typeface="Bahnschrift SemiBold Condensed" panose="020B0502040204020203" pitchFamily="34" charset="0"/>
              </a:rPr>
              <a:t>Таможенный калькулятор транспортного средства для Республики Беларусь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7344" y="4918166"/>
            <a:ext cx="11607936" cy="1743891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Подготовил</a:t>
            </a:r>
            <a:r>
              <a:rPr lang="en-US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:</a:t>
            </a:r>
            <a:r>
              <a:rPr lang="ru-RU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 </a:t>
            </a:r>
            <a:endParaRPr lang="en-US" dirty="0">
              <a:solidFill>
                <a:schemeClr val="tx1"/>
              </a:solidFill>
              <a:latin typeface="Bahnschrift SemiBold Condensed" panose="020B0502040204020203" pitchFamily="34" charset="0"/>
            </a:endParaRPr>
          </a:p>
          <a:p>
            <a:pPr algn="just"/>
            <a:r>
              <a:rPr lang="ru-RU" dirty="0" err="1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Белякович</a:t>
            </a:r>
            <a:r>
              <a:rPr lang="ru-RU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dirty="0" smtClean="0">
                <a:latin typeface="Bahnschrift SemiBold Condensed" panose="020B0502040204020203" pitchFamily="34" charset="0"/>
              </a:rPr>
              <a:t>К</a:t>
            </a:r>
            <a:r>
              <a:rPr lang="ru-RU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ирилл </a:t>
            </a:r>
            <a:r>
              <a:rPr lang="ru-RU" dirty="0" smtClean="0">
                <a:latin typeface="Bahnschrift SemiBold Condensed" panose="020B0502040204020203" pitchFamily="34" charset="0"/>
              </a:rPr>
              <a:t>С</a:t>
            </a:r>
            <a:r>
              <a:rPr lang="ru-RU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ергеевич </a:t>
            </a:r>
          </a:p>
          <a:p>
            <a:pPr algn="just">
              <a:spcBef>
                <a:spcPts val="0"/>
              </a:spcBef>
            </a:pPr>
            <a:r>
              <a:rPr lang="ru-RU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Учебная группа: 2ПОИС24</a:t>
            </a:r>
          </a:p>
          <a:p>
            <a:pPr algn="just"/>
            <a:r>
              <a:rPr lang="ru-RU" dirty="0" smtClean="0">
                <a:latin typeface="Bahnschrift SemiBold Condensed" panose="020B0502040204020203" pitchFamily="34" charset="0"/>
              </a:rPr>
              <a:t>Руководитель курсового проекта: </a:t>
            </a:r>
            <a:r>
              <a:rPr lang="ru-RU" dirty="0" err="1" smtClean="0">
                <a:latin typeface="Bahnschrift SemiBold Condensed" panose="020B0502040204020203" pitchFamily="34" charset="0"/>
              </a:rPr>
              <a:t>Юржиц</a:t>
            </a:r>
            <a:r>
              <a:rPr lang="ru-RU" dirty="0" smtClean="0">
                <a:latin typeface="Bahnschrift SemiBold Condensed" panose="020B0502040204020203" pitchFamily="34" charset="0"/>
              </a:rPr>
              <a:t> С.Л.</a:t>
            </a:r>
            <a:endParaRPr lang="ru-RU" dirty="0">
              <a:solidFill>
                <a:schemeClr val="tx1"/>
              </a:solidFill>
              <a:latin typeface="Bahnschrift SemiBold Condensed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94433" y="144083"/>
            <a:ext cx="5774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 smtClean="0">
                <a:latin typeface="Bahnschrift SemiBold Condensed" panose="020B0502040204020203" pitchFamily="34" charset="0"/>
              </a:rPr>
              <a:t>Оршанский колледж </a:t>
            </a:r>
            <a:r>
              <a:rPr lang="ru-RU" sz="2800" dirty="0">
                <a:latin typeface="Bahnschrift SemiBold Condensed" panose="020B0502040204020203" pitchFamily="34" charset="0"/>
              </a:rPr>
              <a:t>ВГУ имени П.М </a:t>
            </a:r>
            <a:r>
              <a:rPr lang="ru-RU" sz="2800" dirty="0" err="1">
                <a:latin typeface="Bahnschrift SemiBold Condensed" panose="020B0502040204020203" pitchFamily="34" charset="0"/>
              </a:rPr>
              <a:t>Машерова</a:t>
            </a:r>
            <a:r>
              <a:rPr lang="ru-RU" sz="2800" dirty="0">
                <a:latin typeface="Bahnschrift SemiBold Condensed" panose="020B0502040204020203" pitchFamily="34" charset="0"/>
              </a:rPr>
              <a:t> </a:t>
            </a:r>
            <a:endParaRPr lang="en-US" sz="28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9234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51909" y="2609447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400" dirty="0" smtClean="0">
                <a:latin typeface="Bahnschrift SemiBold Condensed" panose="020B0502040204020203" pitchFamily="34" charset="0"/>
              </a:rPr>
              <a:t>Постановка задачи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670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6845" y="94254"/>
            <a:ext cx="70887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 smtClean="0">
                <a:latin typeface="Bahnschrift SemiBold Condensed" panose="020B0502040204020203" pitchFamily="34" charset="0"/>
              </a:rPr>
              <a:t>Цель</a:t>
            </a:r>
            <a:endParaRPr lang="ru-RU" sz="4400" dirty="0" smtClean="0">
              <a:latin typeface="Bahnschrift SemiBold Condensed" panose="020B0502040204020203" pitchFamily="34" charset="0"/>
            </a:endParaRPr>
          </a:p>
          <a:p>
            <a:pPr algn="ctr"/>
            <a:r>
              <a:rPr lang="ru-RU" sz="4400" dirty="0">
                <a:latin typeface="Bahnschrift SemiBold Condensed" panose="020B0502040204020203" pitchFamily="34" charset="0"/>
              </a:rPr>
              <a:t>К</a:t>
            </a:r>
            <a:r>
              <a:rPr lang="ru-RU" sz="4400" dirty="0" smtClean="0">
                <a:latin typeface="Bahnschrift SemiBold Condensed" panose="020B0502040204020203" pitchFamily="34" charset="0"/>
              </a:rPr>
              <a:t>урсового проектирования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00891" y="1540804"/>
            <a:ext cx="9840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00891" y="1859340"/>
            <a:ext cx="927462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курсового проектирования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систематизация, закрепление и практическое применение теоретических знаний и умений по основам алгоритмизации и программирования, а также формирование навыков самостоятельной разработки программного обеспечения.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 практического результата выступает создание таможенного калькулятора транспортного средства для Республики Беларусь с использованием технической документации, справочной литературы и современных средств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34588638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43200" y="353927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400" dirty="0" smtClean="0">
                <a:latin typeface="Bahnschrift SemiBold Condensed" panose="020B0502040204020203" pitchFamily="34" charset="0"/>
              </a:rPr>
              <a:t>Задачи</a:t>
            </a:r>
            <a:endParaRPr lang="ru-RU" sz="4400" dirty="0">
              <a:latin typeface="Bahnschrift SemiBold Condensed" panose="020B0502040204020203" pitchFamily="34" charset="0"/>
            </a:endParaRPr>
          </a:p>
          <a:p>
            <a:pPr algn="ctr"/>
            <a:r>
              <a:rPr lang="ru-RU" sz="4400" dirty="0">
                <a:latin typeface="Bahnschrift SemiBold Condensed" panose="020B0502040204020203" pitchFamily="34" charset="0"/>
              </a:rPr>
              <a:t>Курсового проектирования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7349" y="1800477"/>
            <a:ext cx="994518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необходимо решить следующие задачи:</a:t>
            </a:r>
          </a:p>
          <a:p>
            <a:pPr marL="342900" indent="-342900" algn="just">
              <a:buFont typeface="Symbol" panose="05050102010706020507" pitchFamily="18" charset="2"/>
              <a:buChar char="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нормативно-правовую базу, регулирующую расчёт таможенных платежей при ввозе транспортных средств в Республику Беларусь;</a:t>
            </a:r>
          </a:p>
          <a:p>
            <a:pPr marL="342900" indent="-342900" algn="just">
              <a:buFont typeface="Symbol" panose="05050102010706020507" pitchFamily="18" charset="2"/>
              <a:buChar char="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предметную область и выделить основные термины и параметры расчёта;</a:t>
            </a:r>
          </a:p>
          <a:p>
            <a:pPr marL="342900" indent="-342900" algn="just">
              <a:buFont typeface="Symbol" panose="05050102010706020507" pitchFamily="18" charset="2"/>
              <a:buChar char="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аналоги программных средств для расчёта таможенных платежей;</a:t>
            </a:r>
          </a:p>
          <a:p>
            <a:pPr marL="342900" indent="-342900" algn="just">
              <a:buFont typeface="Symbol" panose="05050102010706020507" pitchFamily="18" charset="2"/>
              <a:buChar char="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программу-калькулятор, позволяющую рассчитывать сумму таможенных платежей на основе введённых пользователем параметров;</a:t>
            </a:r>
          </a:p>
          <a:p>
            <a:pPr marL="342900" indent="-342900" algn="just">
              <a:buFont typeface="Symbol" panose="05050102010706020507" pitchFamily="18" charset="2"/>
              <a:buChar char="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разработанного программного средства.</a:t>
            </a:r>
          </a:p>
        </p:txBody>
      </p:sp>
    </p:spTree>
    <p:extLst>
      <p:ext uri="{BB962C8B-B14F-4D97-AF65-F5344CB8AC3E}">
        <p14:creationId xmlns:p14="http://schemas.microsoft.com/office/powerpoint/2010/main" val="107770392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9774" y="0"/>
            <a:ext cx="53655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 smtClean="0">
                <a:latin typeface="Bahnschrift SemiBold Condensed" panose="020B0502040204020203" pitchFamily="34" charset="0"/>
              </a:rPr>
              <a:t>Актуальность</a:t>
            </a:r>
          </a:p>
          <a:p>
            <a:pPr algn="ctr"/>
            <a:r>
              <a:rPr lang="ru-RU" sz="4400" dirty="0" smtClean="0">
                <a:latin typeface="Bahnschrift SemiBold Condensed" panose="020B0502040204020203" pitchFamily="34" charset="0"/>
              </a:rPr>
              <a:t>Программного обеспечения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0297" y="1446550"/>
            <a:ext cx="1008452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Расчёт таможенных платежей при ввозе автомобилей требует знания актуальных ставок и методик вычислений. Однако самостоятельный расчёт без специальных знаний вызывает серьёзные трудности, так как необходимо учитывать множество взаимосвязанных параметров: возраст транспортного средства, объём и тип двигателя, таможенную стоимость, экологический класс и другие факторы.</a:t>
            </a:r>
          </a:p>
          <a:p>
            <a:pPr marL="457200" algn="just"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Отсутствие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доступного и удобного инструмента вынуждает покупателей полагаться на приблизительные оценки или прибегать к услугам посредников. Кроме того, частое изменение таможенного законодательства усложняет отслеживание актуальной информации. В связи с этим разработка специализированного программного калькулятора, автоматизирующего расчёты и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минимизирующего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риски ошибок, является востребованной и практически значимой задачей.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067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7074" y="252236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400" dirty="0" smtClean="0">
                <a:latin typeface="Bahnschrift SemiBold Condensed" panose="020B0502040204020203" pitchFamily="34" charset="0"/>
              </a:rPr>
              <a:t>Проектирование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23567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708" y="1026734"/>
            <a:ext cx="8717279" cy="531222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406958" y="318253"/>
            <a:ext cx="42226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Диаграмма </a:t>
            </a:r>
            <a:r>
              <a:rPr lang="en-US" sz="4400" dirty="0">
                <a:latin typeface="Bahnschrift SemiBold Condensed" panose="020B0502040204020203" pitchFamily="34" charset="0"/>
              </a:rPr>
              <a:t>USE-CASE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1363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16556" y="0"/>
            <a:ext cx="83263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 smtClean="0">
                <a:latin typeface="Bahnschrift SemiBold Condensed" panose="020B0502040204020203" pitchFamily="34" charset="0"/>
              </a:rPr>
              <a:t>Тестирование разработанного приложения</a:t>
            </a:r>
            <a:endParaRPr lang="en-US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89836" y="1223946"/>
            <a:ext cx="23984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Bahnschrift SemiBold Condensed" panose="020B0502040204020203" pitchFamily="34" charset="0"/>
              </a:rPr>
              <a:t>Тестирование ввода данных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и</a:t>
            </a:r>
            <a:r>
              <a:rPr lang="ru-RU" dirty="0" smtClean="0">
                <a:latin typeface="Bahnschrift SemiBold Condensed" panose="020B0502040204020203" pitchFamily="34" charset="0"/>
              </a:rPr>
              <a:t> расчёта</a:t>
            </a:r>
            <a:endParaRPr lang="en-US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23044" y="1870277"/>
            <a:ext cx="3331995" cy="45827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6179715" y="1223946"/>
            <a:ext cx="29696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Тестирование </a:t>
            </a:r>
            <a:r>
              <a:rPr lang="ru-RU" dirty="0" smtClean="0">
                <a:latin typeface="Bahnschrift SemiBold Condensed" panose="020B0502040204020203" pitchFamily="34" charset="0"/>
              </a:rPr>
              <a:t>экспорта результата расчёта в </a:t>
            </a:r>
            <a:r>
              <a:rPr lang="en-US" dirty="0" smtClean="0">
                <a:latin typeface="Bahnschrift SemiBold Condensed" panose="020B0502040204020203" pitchFamily="34" charset="0"/>
              </a:rPr>
              <a:t>PDF</a:t>
            </a:r>
            <a:r>
              <a:rPr lang="ru-RU" dirty="0" smtClean="0">
                <a:latin typeface="Bahnschrift SemiBold Condensed" panose="020B0502040204020203" pitchFamily="34" charset="0"/>
              </a:rPr>
              <a:t>-файл</a:t>
            </a:r>
            <a:endParaRPr lang="en-US" dirty="0">
              <a:latin typeface="Bahnschrift SemiBold Condensed" panose="020B0502040204020203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l="3299" t="7043" b="604"/>
          <a:stretch/>
        </p:blipFill>
        <p:spPr bwMode="auto">
          <a:xfrm>
            <a:off x="5190444" y="1870277"/>
            <a:ext cx="4772025" cy="3842546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13266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base.com-11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powerpointbase.com-112</Template>
  <TotalTime>526</TotalTime>
  <Words>276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Bahnschrift SemiBold Condensed</vt:lpstr>
      <vt:lpstr>Calibri</vt:lpstr>
      <vt:lpstr>Calibri Light</vt:lpstr>
      <vt:lpstr>Symbol</vt:lpstr>
      <vt:lpstr>Times New Roman</vt:lpstr>
      <vt:lpstr>powerpointbase.com-112</vt:lpstr>
      <vt:lpstr>Курсовой проект   Таможенный калькулятор транспортного средства для Республики Беларусь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«Редактор rtf-документов, включая таблицы и изображения»</dc:title>
  <dc:creator>Учетная запись Майкрософт</dc:creator>
  <cp:lastModifiedBy>Учетная запись Майкрософт</cp:lastModifiedBy>
  <cp:revision>32</cp:revision>
  <dcterms:created xsi:type="dcterms:W3CDTF">2026-05-16T06:56:48Z</dcterms:created>
  <dcterms:modified xsi:type="dcterms:W3CDTF">2026-10-22T08:30:40Z</dcterms:modified>
</cp:coreProperties>
</file>